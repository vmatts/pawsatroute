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29LT Bukra Bold" panose="020B0604020202020204" charset="-78"/>
      <p:regular r:id="rId21"/>
    </p:embeddedFont>
    <p:embeddedFont>
      <p:font typeface="Cerebri" panose="020B0604020202020204" charset="0"/>
      <p:regular r:id="rId22"/>
    </p:embeddedFont>
    <p:embeddedFont>
      <p:font typeface="Cerebri Bold" panose="020B0604020202020204" charset="0"/>
      <p:regular r:id="rId23"/>
    </p:embeddedFont>
    <p:embeddedFont>
      <p:font typeface="DM Sans" panose="020F0502020204030204" pitchFamily="2" charset="0"/>
      <p:regular r:id="rId24"/>
    </p:embeddedFont>
    <p:embeddedFont>
      <p:font typeface="DM Sans Bold" panose="020B0604020202020204" charset="0"/>
      <p:regular r:id="rId25"/>
    </p:embeddedFont>
    <p:embeddedFont>
      <p:font typeface="League Spartan" panose="020B0604020202020204" charset="0"/>
      <p:regular r:id="rId26"/>
    </p:embeddedFont>
    <p:embeddedFont>
      <p:font typeface="Sugo Display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 Alta capacidad de adaptación</a:t>
            </a:r>
          </a:p>
          <a:p>
            <a:endParaRPr lang="en-US"/>
          </a:p>
          <a:p>
            <a:r>
              <a:rPr lang="en-US"/>
              <a:t>El proyecto puede evolucionar junto a las necesidades del usuario.</a:t>
            </a:r>
          </a:p>
          <a:p>
            <a:endParaRPr lang="en-US"/>
          </a:p>
          <a:p>
            <a:r>
              <a:rPr lang="en-US"/>
              <a:t>- Entrega de valor incremental</a:t>
            </a:r>
          </a:p>
          <a:p>
            <a:r>
              <a:rPr lang="en-US"/>
              <a:t> </a:t>
            </a:r>
          </a:p>
          <a:p>
            <a:r>
              <a:rPr lang="en-US"/>
              <a:t>Cada sprint aporta funcionalidades reales y probadas (MVP primero).</a:t>
            </a:r>
          </a:p>
          <a:p>
            <a:endParaRPr lang="en-US"/>
          </a:p>
          <a:p>
            <a:r>
              <a:rPr lang="en-US"/>
              <a:t>- Fortalece la colaboración del equipo</a:t>
            </a:r>
          </a:p>
          <a:p>
            <a:endParaRPr lang="en-US"/>
          </a:p>
          <a:p>
            <a:r>
              <a:rPr lang="en-US"/>
              <a:t> Reuniones diarias, revisiones y retrospectivas mejoran la comunicación.</a:t>
            </a:r>
          </a:p>
          <a:p>
            <a:endParaRPr lang="en-US"/>
          </a:p>
          <a:p>
            <a:r>
              <a:rPr lang="en-US"/>
              <a:t>-Ideal para equipos pequeños</a:t>
            </a:r>
          </a:p>
          <a:p>
            <a:endParaRPr lang="en-US"/>
          </a:p>
          <a:p>
            <a:r>
              <a:rPr lang="en-US"/>
              <a:t> 3 roles bien definidos: Frontend, Backend y Scrum Master.</a:t>
            </a:r>
          </a:p>
          <a:p>
            <a:endParaRPr lang="en-US"/>
          </a:p>
          <a:p>
            <a:r>
              <a:rPr lang="en-US"/>
              <a:t>-Cliente siempre involucrado</a:t>
            </a:r>
          </a:p>
          <a:p>
            <a:endParaRPr lang="en-US"/>
          </a:p>
          <a:p>
            <a:r>
              <a:rPr lang="en-US"/>
              <a:t> El Product Owner entrega retroalimentación continua.</a:t>
            </a:r>
          </a:p>
          <a:p>
            <a:endParaRPr lang="en-US"/>
          </a:p>
          <a:p>
            <a:r>
              <a:rPr lang="en-US"/>
              <a:t>-Reduce riesgos del proyecto</a:t>
            </a:r>
          </a:p>
          <a:p>
            <a:endParaRPr lang="en-US"/>
          </a:p>
          <a:p>
            <a:r>
              <a:rPr lang="en-US"/>
              <a:t> Ciclos cortos permiten detectar errores tempranamente.</a:t>
            </a:r>
          </a:p>
          <a:p>
            <a:endParaRPr lang="en-US"/>
          </a:p>
          <a:p>
            <a:r>
              <a:rPr lang="en-US"/>
              <a:t>-Mejora continua incorporada</a:t>
            </a:r>
          </a:p>
          <a:p>
            <a:endParaRPr lang="en-US"/>
          </a:p>
          <a:p>
            <a:r>
              <a:rPr lang="en-US"/>
              <a:t> Las retrospectivas permiten aprender y optimizar cada sprint.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7.svg"/><Relationship Id="rId7" Type="http://schemas.openxmlformats.org/officeDocument/2006/relationships/image" Target="../media/image1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70058"/>
            <a:ext cx="5565317" cy="11027116"/>
            <a:chOff x="0" y="0"/>
            <a:chExt cx="1465763" cy="29042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5763" cy="2904261"/>
            </a:xfrm>
            <a:custGeom>
              <a:avLst/>
              <a:gdLst/>
              <a:ahLst/>
              <a:cxnLst/>
              <a:rect l="l" t="t" r="r" b="b"/>
              <a:pathLst>
                <a:path w="1465763" h="2904261">
                  <a:moveTo>
                    <a:pt x="0" y="0"/>
                  </a:moveTo>
                  <a:lnTo>
                    <a:pt x="1465763" y="0"/>
                  </a:lnTo>
                  <a:lnTo>
                    <a:pt x="1465763" y="2904261"/>
                  </a:lnTo>
                  <a:lnTo>
                    <a:pt x="0" y="2904261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465763" cy="2904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9715836">
            <a:off x="-3328055" y="-2250811"/>
            <a:ext cx="8370570" cy="6985621"/>
          </a:xfrm>
          <a:custGeom>
            <a:avLst/>
            <a:gdLst/>
            <a:ahLst/>
            <a:cxnLst/>
            <a:rect l="l" t="t" r="r" b="b"/>
            <a:pathLst>
              <a:path w="8370570" h="6985621">
                <a:moveTo>
                  <a:pt x="0" y="0"/>
                </a:moveTo>
                <a:lnTo>
                  <a:pt x="8370571" y="0"/>
                </a:lnTo>
                <a:lnTo>
                  <a:pt x="8370571" y="6985622"/>
                </a:lnTo>
                <a:lnTo>
                  <a:pt x="0" y="698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212140">
            <a:off x="4927266" y="8915312"/>
            <a:ext cx="3740663" cy="3483492"/>
          </a:xfrm>
          <a:custGeom>
            <a:avLst/>
            <a:gdLst/>
            <a:ahLst/>
            <a:cxnLst/>
            <a:rect l="l" t="t" r="r" b="b"/>
            <a:pathLst>
              <a:path w="3740663" h="3483492">
                <a:moveTo>
                  <a:pt x="0" y="0"/>
                </a:moveTo>
                <a:lnTo>
                  <a:pt x="3740663" y="0"/>
                </a:lnTo>
                <a:lnTo>
                  <a:pt x="3740663" y="3483492"/>
                </a:lnTo>
                <a:lnTo>
                  <a:pt x="0" y="348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2237815" y="2703727"/>
            <a:ext cx="6655004" cy="6313935"/>
          </a:xfrm>
          <a:custGeom>
            <a:avLst/>
            <a:gdLst/>
            <a:ahLst/>
            <a:cxnLst/>
            <a:rect l="l" t="t" r="r" b="b"/>
            <a:pathLst>
              <a:path w="6655004" h="6313935">
                <a:moveTo>
                  <a:pt x="0" y="0"/>
                </a:moveTo>
                <a:lnTo>
                  <a:pt x="6655004" y="0"/>
                </a:lnTo>
                <a:lnTo>
                  <a:pt x="6655004" y="6313935"/>
                </a:lnTo>
                <a:lnTo>
                  <a:pt x="0" y="6313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 rot="1418203">
            <a:off x="16094380" y="5974399"/>
            <a:ext cx="4741803" cy="5107867"/>
          </a:xfrm>
          <a:custGeom>
            <a:avLst/>
            <a:gdLst/>
            <a:ahLst/>
            <a:cxnLst/>
            <a:rect l="l" t="t" r="r" b="b"/>
            <a:pathLst>
              <a:path w="4741803" h="5107867">
                <a:moveTo>
                  <a:pt x="0" y="0"/>
                </a:moveTo>
                <a:lnTo>
                  <a:pt x="4741803" y="0"/>
                </a:lnTo>
                <a:lnTo>
                  <a:pt x="4741803" y="5107867"/>
                </a:lnTo>
                <a:lnTo>
                  <a:pt x="0" y="5107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 rot="-695401">
            <a:off x="12652791" y="-2505963"/>
            <a:ext cx="4606509" cy="5406172"/>
          </a:xfrm>
          <a:custGeom>
            <a:avLst/>
            <a:gdLst/>
            <a:ahLst/>
            <a:cxnLst/>
            <a:rect l="l" t="t" r="r" b="b"/>
            <a:pathLst>
              <a:path w="4606509" h="5406172">
                <a:moveTo>
                  <a:pt x="0" y="0"/>
                </a:moveTo>
                <a:lnTo>
                  <a:pt x="4606509" y="0"/>
                </a:lnTo>
                <a:lnTo>
                  <a:pt x="4606509" y="5406172"/>
                </a:lnTo>
                <a:lnTo>
                  <a:pt x="0" y="5406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9965651" y="6878603"/>
            <a:ext cx="5313276" cy="251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8"/>
              </a:lnSpc>
            </a:pPr>
            <a:r>
              <a:rPr lang="es-CL" sz="3157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Equipo:</a:t>
            </a:r>
          </a:p>
          <a:p>
            <a:pPr algn="l">
              <a:lnSpc>
                <a:spcPts val="3978"/>
              </a:lnSpc>
            </a:pPr>
            <a:endParaRPr lang="es-CL" sz="3157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81635" lvl="1" indent="-340817" algn="l">
              <a:lnSpc>
                <a:spcPts val="3978"/>
              </a:lnSpc>
              <a:buFont typeface="Arial"/>
              <a:buChar char="•"/>
            </a:pPr>
            <a:r>
              <a:rPr lang="es-CL" sz="3157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Mario Benedetti</a:t>
            </a:r>
          </a:p>
          <a:p>
            <a:pPr marL="681635" lvl="1" indent="-340817" algn="l">
              <a:lnSpc>
                <a:spcPts val="3978"/>
              </a:lnSpc>
              <a:buFont typeface="Arial"/>
              <a:buChar char="•"/>
            </a:pPr>
            <a:r>
              <a:rPr lang="es-CL" sz="3157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Jois</a:t>
            </a:r>
            <a:r>
              <a:rPr lang="es-CL" sz="3157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Rosales</a:t>
            </a:r>
          </a:p>
          <a:p>
            <a:pPr marL="681635" lvl="1" indent="-340817" algn="l">
              <a:lnSpc>
                <a:spcPts val="3978"/>
              </a:lnSpc>
              <a:buFont typeface="Arial"/>
              <a:buChar char="•"/>
            </a:pPr>
            <a:r>
              <a:rPr lang="es-CL" sz="3157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Mateo Sepúlveda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60127" y="2890684"/>
            <a:ext cx="5618800" cy="223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64"/>
              </a:lnSpc>
            </a:pPr>
            <a:r>
              <a:rPr lang="es-CL" sz="14609" b="1" noProof="0" dirty="0" err="1">
                <a:solidFill>
                  <a:srgbClr val="4651B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Paws</a:t>
            </a:r>
            <a:endParaRPr lang="es-CL" sz="14609" b="1" noProof="0" dirty="0">
              <a:solidFill>
                <a:srgbClr val="4651BF"/>
              </a:solidFill>
              <a:latin typeface="29LT Bukra Bold"/>
              <a:ea typeface="29LT Bukra Bold"/>
              <a:cs typeface="29LT Bukra Bold"/>
              <a:sym typeface="29LT Bukr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4676" y="5011869"/>
            <a:ext cx="7496346" cy="198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41"/>
              </a:lnSpc>
            </a:pPr>
            <a:r>
              <a:rPr lang="es-CL" sz="18611" noProof="0" dirty="0">
                <a:solidFill>
                  <a:srgbClr val="7DC5DD"/>
                </a:solidFill>
                <a:latin typeface="Sugo Display"/>
                <a:ea typeface="Sugo Display"/>
                <a:cs typeface="Sugo Display"/>
                <a:sym typeface="Sugo Display"/>
              </a:rPr>
              <a:t>At </a:t>
            </a:r>
            <a:r>
              <a:rPr lang="es-CL" sz="18611" noProof="0" dirty="0" err="1">
                <a:solidFill>
                  <a:srgbClr val="7DC5DD"/>
                </a:solidFill>
                <a:latin typeface="Sugo Display"/>
                <a:ea typeface="Sugo Display"/>
                <a:cs typeface="Sugo Display"/>
                <a:sym typeface="Sugo Display"/>
              </a:rPr>
              <a:t>Route</a:t>
            </a:r>
            <a:endParaRPr lang="es-CL" sz="18611" noProof="0" dirty="0">
              <a:solidFill>
                <a:srgbClr val="7DC5DD"/>
              </a:solidFill>
              <a:latin typeface="Sugo Display"/>
              <a:ea typeface="Sugo Display"/>
              <a:cs typeface="Sugo Display"/>
              <a:sym typeface="Sugo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987" y="0"/>
            <a:ext cx="18410987" cy="4309242"/>
            <a:chOff x="0" y="0"/>
            <a:chExt cx="4848984" cy="1134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8984" cy="1134944"/>
            </a:xfrm>
            <a:custGeom>
              <a:avLst/>
              <a:gdLst/>
              <a:ahLst/>
              <a:cxnLst/>
              <a:rect l="l" t="t" r="r" b="b"/>
              <a:pathLst>
                <a:path w="4848984" h="1134944">
                  <a:moveTo>
                    <a:pt x="0" y="0"/>
                  </a:moveTo>
                  <a:lnTo>
                    <a:pt x="4848984" y="0"/>
                  </a:lnTo>
                  <a:lnTo>
                    <a:pt x="4848984" y="1134944"/>
                  </a:lnTo>
                  <a:lnTo>
                    <a:pt x="0" y="1134944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48984" cy="1134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509591">
            <a:off x="8039145" y="-1365932"/>
            <a:ext cx="5953320" cy="4156500"/>
          </a:xfrm>
          <a:custGeom>
            <a:avLst/>
            <a:gdLst/>
            <a:ahLst/>
            <a:cxnLst/>
            <a:rect l="l" t="t" r="r" b="b"/>
            <a:pathLst>
              <a:path w="5953320" h="4156500">
                <a:moveTo>
                  <a:pt x="0" y="0"/>
                </a:moveTo>
                <a:lnTo>
                  <a:pt x="5953320" y="0"/>
                </a:lnTo>
                <a:lnTo>
                  <a:pt x="5953320" y="4156500"/>
                </a:lnTo>
                <a:lnTo>
                  <a:pt x="0" y="415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>
            <a:off x="13171205" y="4773847"/>
            <a:ext cx="4720477" cy="4484453"/>
          </a:xfrm>
          <a:custGeom>
            <a:avLst/>
            <a:gdLst/>
            <a:ahLst/>
            <a:cxnLst/>
            <a:rect l="l" t="t" r="r" b="b"/>
            <a:pathLst>
              <a:path w="4720477" h="4484453">
                <a:moveTo>
                  <a:pt x="0" y="0"/>
                </a:moveTo>
                <a:lnTo>
                  <a:pt x="4720477" y="0"/>
                </a:lnTo>
                <a:lnTo>
                  <a:pt x="4720477" y="4484453"/>
                </a:lnTo>
                <a:lnTo>
                  <a:pt x="0" y="4484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1909365" y="1945185"/>
            <a:ext cx="9612225" cy="167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2"/>
              </a:lnSpc>
            </a:pPr>
            <a:r>
              <a:rPr lang="es-CL" sz="10875" b="1" noProof="0" dirty="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Introducción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576184"/>
            <a:ext cx="11284849" cy="537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s-CL" sz="3103" b="1" noProof="0" dirty="0">
                <a:solidFill>
                  <a:srgbClr val="6B94EF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Contexto:</a:t>
            </a:r>
            <a:r>
              <a:rPr lang="es-CL" sz="3103" noProof="0" dirty="0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 Muchas personas no poseen el tiempo suficiente para pasear mascotas.</a:t>
            </a:r>
          </a:p>
          <a:p>
            <a:pPr algn="l">
              <a:lnSpc>
                <a:spcPts val="3599"/>
              </a:lnSpc>
            </a:pPr>
            <a:endParaRPr lang="es-CL" sz="3103" noProof="0" dirty="0">
              <a:solidFill>
                <a:srgbClr val="6B94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599"/>
              </a:lnSpc>
            </a:pPr>
            <a:r>
              <a:rPr lang="es-CL" sz="3103" b="1" noProof="0" dirty="0">
                <a:solidFill>
                  <a:srgbClr val="6B94EF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Problema:</a:t>
            </a:r>
            <a:r>
              <a:rPr lang="es-CL" sz="3103" noProof="0" dirty="0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 Falta de soluciones confiables y seguras para contratar paseadores.</a:t>
            </a:r>
          </a:p>
          <a:p>
            <a:pPr algn="l">
              <a:lnSpc>
                <a:spcPts val="3599"/>
              </a:lnSpc>
            </a:pPr>
            <a:endParaRPr lang="es-CL" sz="3103" noProof="0" dirty="0">
              <a:solidFill>
                <a:srgbClr val="6B94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599"/>
              </a:lnSpc>
            </a:pPr>
            <a:r>
              <a:rPr lang="es-CL" sz="3103" b="1" noProof="0" dirty="0">
                <a:solidFill>
                  <a:srgbClr val="6B94EF"/>
                </a:solidFill>
                <a:latin typeface="DM Sans Bold"/>
                <a:ea typeface="DM Sans Bold"/>
                <a:cs typeface="DM Sans Bold"/>
                <a:sym typeface="DM Sans Bold"/>
              </a:rPr>
              <a:t>Propuesta:</a:t>
            </a:r>
            <a:r>
              <a:rPr lang="es-CL" sz="3103" noProof="0" dirty="0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 Desarrollar una plataforma digital que conecte a dueños de mascotas con paseadores verificados.</a:t>
            </a:r>
          </a:p>
          <a:p>
            <a:pPr algn="l">
              <a:lnSpc>
                <a:spcPts val="3599"/>
              </a:lnSpc>
            </a:pPr>
            <a:endParaRPr lang="es-CL" sz="3103" noProof="0" dirty="0">
              <a:solidFill>
                <a:srgbClr val="6B94E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599"/>
              </a:lnSpc>
            </a:pPr>
            <a:r>
              <a:rPr lang="es-CL" sz="3103" b="1" noProof="0" dirty="0">
                <a:solidFill>
                  <a:srgbClr val="6B94EF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Objetivo:</a:t>
            </a:r>
            <a:r>
              <a:rPr lang="es-CL" sz="3103" noProof="0" dirty="0">
                <a:solidFill>
                  <a:srgbClr val="6B94EF"/>
                </a:solidFill>
                <a:latin typeface="DM Sans"/>
                <a:ea typeface="DM Sans"/>
                <a:cs typeface="DM Sans"/>
                <a:sym typeface="DM Sans"/>
              </a:rPr>
              <a:t> Crear un sistema funcional, accesible y seguro, aplicando metodologías ágiles y principios de ciberseguridad.</a:t>
            </a:r>
          </a:p>
          <a:p>
            <a:pPr algn="l">
              <a:lnSpc>
                <a:spcPts val="3599"/>
              </a:lnSpc>
            </a:pPr>
            <a:endParaRPr lang="es-CL" sz="3103" noProof="0" dirty="0">
              <a:solidFill>
                <a:srgbClr val="6B94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4529" y="7642689"/>
            <a:ext cx="20137058" cy="2959394"/>
            <a:chOff x="0" y="0"/>
            <a:chExt cx="5303587" cy="779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3587" cy="779429"/>
            </a:xfrm>
            <a:custGeom>
              <a:avLst/>
              <a:gdLst/>
              <a:ahLst/>
              <a:cxnLst/>
              <a:rect l="l" t="t" r="r" b="b"/>
              <a:pathLst>
                <a:path w="5303587" h="779429">
                  <a:moveTo>
                    <a:pt x="0" y="0"/>
                  </a:moveTo>
                  <a:lnTo>
                    <a:pt x="5303587" y="0"/>
                  </a:lnTo>
                  <a:lnTo>
                    <a:pt x="5303587" y="779429"/>
                  </a:lnTo>
                  <a:lnTo>
                    <a:pt x="0" y="779429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303587" cy="77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8287813">
            <a:off x="-1381407" y="-880138"/>
            <a:ext cx="7506413" cy="3234581"/>
          </a:xfrm>
          <a:custGeom>
            <a:avLst/>
            <a:gdLst/>
            <a:ahLst/>
            <a:cxnLst/>
            <a:rect l="l" t="t" r="r" b="b"/>
            <a:pathLst>
              <a:path w="7506413" h="3234581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3496418" y="1601615"/>
            <a:ext cx="114416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5"/>
              </a:lnSpc>
            </a:pPr>
            <a:r>
              <a:rPr lang="es-CL" sz="7500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Fundamentación</a:t>
            </a:r>
          </a:p>
        </p:txBody>
      </p:sp>
      <p:sp>
        <p:nvSpPr>
          <p:cNvPr id="7" name="Freeform 7"/>
          <p:cNvSpPr/>
          <p:nvPr/>
        </p:nvSpPr>
        <p:spPr>
          <a:xfrm rot="5635735">
            <a:off x="16598782" y="3757245"/>
            <a:ext cx="3378436" cy="3632727"/>
          </a:xfrm>
          <a:custGeom>
            <a:avLst/>
            <a:gdLst/>
            <a:ahLst/>
            <a:cxnLst/>
            <a:rect l="l" t="t" r="r" b="b"/>
            <a:pathLst>
              <a:path w="3378436" h="3632727">
                <a:moveTo>
                  <a:pt x="0" y="0"/>
                </a:moveTo>
                <a:lnTo>
                  <a:pt x="3378436" y="0"/>
                </a:lnTo>
                <a:lnTo>
                  <a:pt x="3378436" y="3632727"/>
                </a:lnTo>
                <a:lnTo>
                  <a:pt x="0" y="363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28169"/>
              </p:ext>
            </p:extLst>
          </p:nvPr>
        </p:nvGraphicFramePr>
        <p:xfrm>
          <a:off x="3034262" y="3292509"/>
          <a:ext cx="12365914" cy="5965792"/>
        </p:xfrm>
        <a:graphic>
          <a:graphicData uri="http://schemas.openxmlformats.org/drawingml/2006/table">
            <a:tbl>
              <a:tblPr/>
              <a:tblGrid>
                <a:gridCol w="3175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1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3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7287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s-CL" sz="2200" b="1" noProof="0" dirty="0">
                          <a:solidFill>
                            <a:srgbClr val="000000"/>
                          </a:solidFill>
                          <a:latin typeface="Cerebri Bold"/>
                          <a:ea typeface="Cerebri Bold"/>
                          <a:cs typeface="Cerebri Bold"/>
                          <a:sym typeface="Cerebri Bold"/>
                        </a:rPr>
                        <a:t>Relevancia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054C5">
                            <a:alpha val="100000"/>
                          </a:srgbClr>
                        </a:gs>
                        <a:gs pos="100000">
                          <a:srgbClr val="90E1E6">
                            <a:alpha val="10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s-CL" sz="2200" b="1" noProof="0" dirty="0">
                          <a:solidFill>
                            <a:srgbClr val="000000"/>
                          </a:solidFill>
                          <a:latin typeface="Cerebri Bold"/>
                          <a:ea typeface="Cerebri Bold"/>
                          <a:cs typeface="Cerebri Bold"/>
                          <a:sym typeface="Cerebri Bold"/>
                        </a:rPr>
                        <a:t>Pertinencia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054C5">
                            <a:alpha val="100000"/>
                          </a:srgbClr>
                        </a:gs>
                        <a:gs pos="100000">
                          <a:srgbClr val="90E1E6">
                            <a:alpha val="10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s-CL" sz="2200" b="1" noProof="0" dirty="0">
                          <a:solidFill>
                            <a:srgbClr val="000000"/>
                          </a:solidFill>
                          <a:latin typeface="Cerebri Bold"/>
                          <a:ea typeface="Cerebri Bold"/>
                          <a:cs typeface="Cerebri Bold"/>
                          <a:sym typeface="Cerebri Bold"/>
                        </a:rPr>
                        <a:t>Relación intereses profesionales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054C5">
                            <a:alpha val="100000"/>
                          </a:srgbClr>
                        </a:gs>
                        <a:gs pos="100000">
                          <a:srgbClr val="90E1E6">
                            <a:alpha val="10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s-CL" sz="2200" b="1" noProof="0" dirty="0">
                          <a:solidFill>
                            <a:srgbClr val="000000"/>
                          </a:solidFill>
                          <a:latin typeface="Cerebri Bold"/>
                          <a:ea typeface="Cerebri Bold"/>
                          <a:cs typeface="Cerebri Bold"/>
                          <a:sym typeface="Cerebri Bold"/>
                        </a:rPr>
                        <a:t>Factibilidad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054C5">
                            <a:alpha val="100000"/>
                          </a:srgbClr>
                        </a:gs>
                        <a:gs pos="100000">
                          <a:srgbClr val="90E1E6">
                            <a:alpha val="10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50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s-CL" sz="20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Conecta dueños con paseadores, asegurando bienestar para las mascotas.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s-CL" sz="20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Soluciones innovadoras, fortaleciendo habilidades en gestión de proyectos y desarrollo web.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s-CL" sz="20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Innovar con tecnología para crear soluciones prácticas y accesibles.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s-CL" sz="20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Por disponibilidad de recursos, herramientas digitales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4529" y="7642689"/>
            <a:ext cx="20137058" cy="2959394"/>
            <a:chOff x="0" y="0"/>
            <a:chExt cx="5303587" cy="779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3587" cy="779429"/>
            </a:xfrm>
            <a:custGeom>
              <a:avLst/>
              <a:gdLst/>
              <a:ahLst/>
              <a:cxnLst/>
              <a:rect l="l" t="t" r="r" b="b"/>
              <a:pathLst>
                <a:path w="5303587" h="779429">
                  <a:moveTo>
                    <a:pt x="0" y="0"/>
                  </a:moveTo>
                  <a:lnTo>
                    <a:pt x="5303587" y="0"/>
                  </a:lnTo>
                  <a:lnTo>
                    <a:pt x="5303587" y="779429"/>
                  </a:lnTo>
                  <a:lnTo>
                    <a:pt x="0" y="779429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303587" cy="77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8287813">
            <a:off x="-1381407" y="-880138"/>
            <a:ext cx="7506413" cy="3234581"/>
          </a:xfrm>
          <a:custGeom>
            <a:avLst/>
            <a:gdLst/>
            <a:ahLst/>
            <a:cxnLst/>
            <a:rect l="l" t="t" r="r" b="b"/>
            <a:pathLst>
              <a:path w="7506413" h="3234581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3496418" y="895350"/>
            <a:ext cx="114416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5"/>
              </a:lnSpc>
            </a:pPr>
            <a:r>
              <a:rPr lang="es-CL" sz="7500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Objetivos</a:t>
            </a:r>
          </a:p>
        </p:txBody>
      </p:sp>
      <p:sp>
        <p:nvSpPr>
          <p:cNvPr id="7" name="Freeform 7"/>
          <p:cNvSpPr/>
          <p:nvPr/>
        </p:nvSpPr>
        <p:spPr>
          <a:xfrm rot="5635735">
            <a:off x="16598782" y="3757245"/>
            <a:ext cx="3378436" cy="3632727"/>
          </a:xfrm>
          <a:custGeom>
            <a:avLst/>
            <a:gdLst/>
            <a:ahLst/>
            <a:cxnLst/>
            <a:rect l="l" t="t" r="r" b="b"/>
            <a:pathLst>
              <a:path w="3378436" h="3632727">
                <a:moveTo>
                  <a:pt x="0" y="0"/>
                </a:moveTo>
                <a:lnTo>
                  <a:pt x="3378436" y="0"/>
                </a:lnTo>
                <a:lnTo>
                  <a:pt x="3378436" y="3632727"/>
                </a:lnTo>
                <a:lnTo>
                  <a:pt x="0" y="363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62451"/>
              </p:ext>
            </p:extLst>
          </p:nvPr>
        </p:nvGraphicFramePr>
        <p:xfrm>
          <a:off x="5491780" y="2524038"/>
          <a:ext cx="7304440" cy="6099141"/>
        </p:xfrm>
        <a:graphic>
          <a:graphicData uri="http://schemas.openxmlformats.org/drawingml/2006/table">
            <a:tbl>
              <a:tblPr/>
              <a:tblGrid>
                <a:gridCol w="3652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2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2034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s-CL" sz="2200" b="1" noProof="0" dirty="0">
                          <a:solidFill>
                            <a:srgbClr val="000000"/>
                          </a:solidFill>
                          <a:latin typeface="Cerebri Bold"/>
                          <a:ea typeface="Cerebri Bold"/>
                          <a:cs typeface="Cerebri Bold"/>
                          <a:sym typeface="Cerebri Bold"/>
                        </a:rPr>
                        <a:t>General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054C5">
                            <a:alpha val="100000"/>
                          </a:srgbClr>
                        </a:gs>
                        <a:gs pos="100000">
                          <a:srgbClr val="90E1E6">
                            <a:alpha val="10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s-CL" sz="2200" b="1" noProof="0" dirty="0">
                          <a:solidFill>
                            <a:srgbClr val="000000"/>
                          </a:solidFill>
                          <a:latin typeface="Cerebri Bold"/>
                          <a:ea typeface="Cerebri Bold"/>
                          <a:cs typeface="Cerebri Bold"/>
                          <a:sym typeface="Cerebri Bold"/>
                        </a:rPr>
                        <a:t>Específicos</a:t>
                      </a: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0054C5">
                            <a:alpha val="100000"/>
                          </a:srgbClr>
                        </a:gs>
                        <a:gs pos="100000">
                          <a:srgbClr val="90E1E6">
                            <a:alpha val="10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7107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s-CL" sz="19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Desarrollar un MVP que conecte dueños de mascotas con paseadores, asegurando usabilidad y seguridad.</a:t>
                      </a:r>
                      <a:endParaRPr lang="es-CL" sz="1100" noProof="0" dirty="0"/>
                    </a:p>
                    <a:p>
                      <a:pPr algn="ctr">
                        <a:lnSpc>
                          <a:spcPts val="2660"/>
                        </a:lnSpc>
                      </a:pPr>
                      <a:endParaRPr lang="es-CL" sz="1100" noProof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0213" lvl="1" indent="-205106" algn="l">
                        <a:lnSpc>
                          <a:spcPts val="2660"/>
                        </a:lnSpc>
                        <a:buFont typeface="Arial"/>
                        <a:buChar char="•"/>
                        <a:defRPr/>
                      </a:pPr>
                      <a:r>
                        <a:rPr lang="es-CL" sz="19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Prototipar la plataforma</a:t>
                      </a:r>
                      <a:endParaRPr lang="es-CL" sz="1100" noProof="0" dirty="0"/>
                    </a:p>
                    <a:p>
                      <a:pPr marL="410213" lvl="1" indent="-205106" algn="l">
                        <a:lnSpc>
                          <a:spcPts val="2660"/>
                        </a:lnSpc>
                        <a:buFont typeface="Arial"/>
                        <a:buChar char="•"/>
                      </a:pPr>
                      <a:r>
                        <a:rPr lang="es-CL" sz="19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Lanzar un MVP con gestión de paseos</a:t>
                      </a:r>
                    </a:p>
                    <a:p>
                      <a:pPr marL="410213" lvl="1" indent="-205106" algn="l">
                        <a:lnSpc>
                          <a:spcPts val="2660"/>
                        </a:lnSpc>
                        <a:buFont typeface="Arial"/>
                        <a:buChar char="•"/>
                      </a:pPr>
                      <a:r>
                        <a:rPr lang="es-CL" sz="19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Asegurar datos</a:t>
                      </a:r>
                    </a:p>
                    <a:p>
                      <a:pPr marL="410213" lvl="1" indent="-205106" algn="l">
                        <a:lnSpc>
                          <a:spcPts val="2660"/>
                        </a:lnSpc>
                        <a:buFont typeface="Arial"/>
                        <a:buChar char="•"/>
                      </a:pPr>
                      <a:r>
                        <a:rPr lang="es-CL" sz="1900" noProof="0" dirty="0">
                          <a:solidFill>
                            <a:srgbClr val="000000"/>
                          </a:solidFill>
                          <a:latin typeface="Cerebri"/>
                          <a:ea typeface="Cerebri"/>
                          <a:cs typeface="Cerebri"/>
                          <a:sym typeface="Cerebri"/>
                        </a:rPr>
                        <a:t>Promocionar el proyecto en redes.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8414" y="-59500"/>
            <a:ext cx="18844827" cy="3754606"/>
            <a:chOff x="0" y="0"/>
            <a:chExt cx="4963247" cy="988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3247" cy="988867"/>
            </a:xfrm>
            <a:custGeom>
              <a:avLst/>
              <a:gdLst/>
              <a:ahLst/>
              <a:cxnLst/>
              <a:rect l="l" t="t" r="r" b="b"/>
              <a:pathLst>
                <a:path w="4963247" h="988867">
                  <a:moveTo>
                    <a:pt x="0" y="0"/>
                  </a:moveTo>
                  <a:lnTo>
                    <a:pt x="4963247" y="0"/>
                  </a:lnTo>
                  <a:lnTo>
                    <a:pt x="4963247" y="988867"/>
                  </a:lnTo>
                  <a:lnTo>
                    <a:pt x="0" y="988867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963247" cy="988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6037531">
            <a:off x="-3783960" y="2697545"/>
            <a:ext cx="6656340" cy="5555019"/>
          </a:xfrm>
          <a:custGeom>
            <a:avLst/>
            <a:gdLst/>
            <a:ahLst/>
            <a:cxnLst/>
            <a:rect l="l" t="t" r="r" b="b"/>
            <a:pathLst>
              <a:path w="6656340" h="5555019">
                <a:moveTo>
                  <a:pt x="0" y="0"/>
                </a:moveTo>
                <a:lnTo>
                  <a:pt x="6656340" y="0"/>
                </a:lnTo>
                <a:lnTo>
                  <a:pt x="6656340" y="5555018"/>
                </a:lnTo>
                <a:lnTo>
                  <a:pt x="0" y="5555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5597752">
            <a:off x="14677228" y="6987024"/>
            <a:ext cx="3870633" cy="4542552"/>
          </a:xfrm>
          <a:custGeom>
            <a:avLst/>
            <a:gdLst/>
            <a:ahLst/>
            <a:cxnLst/>
            <a:rect l="l" t="t" r="r" b="b"/>
            <a:pathLst>
              <a:path w="3870633" h="4542552">
                <a:moveTo>
                  <a:pt x="0" y="0"/>
                </a:moveTo>
                <a:lnTo>
                  <a:pt x="3870632" y="0"/>
                </a:lnTo>
                <a:lnTo>
                  <a:pt x="3870632" y="4542552"/>
                </a:lnTo>
                <a:lnTo>
                  <a:pt x="0" y="4542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6584852" y="524302"/>
            <a:ext cx="5118297" cy="86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87"/>
              </a:lnSpc>
            </a:pPr>
            <a:r>
              <a:rPr lang="es-CL" sz="4775" b="1" noProof="0" dirty="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CARTA GANTT</a:t>
            </a:r>
          </a:p>
        </p:txBody>
      </p:sp>
      <p:sp>
        <p:nvSpPr>
          <p:cNvPr id="8" name="Freeform 8"/>
          <p:cNvSpPr/>
          <p:nvPr/>
        </p:nvSpPr>
        <p:spPr>
          <a:xfrm>
            <a:off x="2959369" y="1979889"/>
            <a:ext cx="12369262" cy="7865237"/>
          </a:xfrm>
          <a:custGeom>
            <a:avLst/>
            <a:gdLst/>
            <a:ahLst/>
            <a:cxnLst/>
            <a:rect l="l" t="t" r="r" b="b"/>
            <a:pathLst>
              <a:path w="12369262" h="7865237">
                <a:moveTo>
                  <a:pt x="0" y="0"/>
                </a:moveTo>
                <a:lnTo>
                  <a:pt x="12369262" y="0"/>
                </a:lnTo>
                <a:lnTo>
                  <a:pt x="12369262" y="7865238"/>
                </a:lnTo>
                <a:lnTo>
                  <a:pt x="0" y="786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65689" y="-2026361"/>
            <a:ext cx="4699987" cy="8505875"/>
            <a:chOff x="0" y="0"/>
            <a:chExt cx="1237857" cy="2240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857" cy="2240230"/>
            </a:xfrm>
            <a:custGeom>
              <a:avLst/>
              <a:gdLst/>
              <a:ahLst/>
              <a:cxnLst/>
              <a:rect l="l" t="t" r="r" b="b"/>
              <a:pathLst>
                <a:path w="1237857" h="2240230">
                  <a:moveTo>
                    <a:pt x="0" y="0"/>
                  </a:moveTo>
                  <a:lnTo>
                    <a:pt x="1237857" y="0"/>
                  </a:lnTo>
                  <a:lnTo>
                    <a:pt x="1237857" y="2240230"/>
                  </a:lnTo>
                  <a:lnTo>
                    <a:pt x="0" y="2240230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237857" cy="224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65385" y="3948508"/>
            <a:ext cx="5700595" cy="570059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06" r="-24906"/>
              </a:stretch>
            </a:blipFill>
            <a:ln w="314325" cap="sq">
              <a:gradFill>
                <a:gsLst>
                  <a:gs pos="0">
                    <a:srgbClr val="7DC5DD">
                      <a:alpha val="100000"/>
                    </a:srgbClr>
                  </a:gs>
                  <a:gs pos="100000">
                    <a:srgbClr val="4651B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436521" y="3881833"/>
            <a:ext cx="7428730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Resultados sprint 1:</a:t>
            </a:r>
          </a:p>
          <a:p>
            <a:pPr algn="l">
              <a:lnSpc>
                <a:spcPts val="4200"/>
              </a:lnSpc>
            </a:pPr>
            <a:endParaRPr lang="es-CL" sz="3000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Registro de usuarios funcionando con validación de correo único.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Registro de paseadores implementado parcialmente (UI y validaciones).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Inicio de sesión funcionando correctamente con credenciales válidas.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s-CL" sz="3000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36521" y="2414192"/>
            <a:ext cx="6797476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s-CL" sz="5000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Sprint 1</a:t>
            </a:r>
          </a:p>
        </p:txBody>
      </p:sp>
      <p:sp>
        <p:nvSpPr>
          <p:cNvPr id="9" name="Freeform 9"/>
          <p:cNvSpPr/>
          <p:nvPr/>
        </p:nvSpPr>
        <p:spPr>
          <a:xfrm>
            <a:off x="4815682" y="8382000"/>
            <a:ext cx="4091274" cy="3809999"/>
          </a:xfrm>
          <a:custGeom>
            <a:avLst/>
            <a:gdLst/>
            <a:ahLst/>
            <a:cxnLst/>
            <a:rect l="l" t="t" r="r" b="b"/>
            <a:pathLst>
              <a:path w="4091274" h="3809999">
                <a:moveTo>
                  <a:pt x="0" y="0"/>
                </a:moveTo>
                <a:lnTo>
                  <a:pt x="4091275" y="0"/>
                </a:lnTo>
                <a:lnTo>
                  <a:pt x="4091275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 rot="-695401">
            <a:off x="-1070461" y="-1858915"/>
            <a:ext cx="4198323" cy="4927127"/>
          </a:xfrm>
          <a:custGeom>
            <a:avLst/>
            <a:gdLst/>
            <a:ahLst/>
            <a:cxnLst/>
            <a:rect l="l" t="t" r="r" b="b"/>
            <a:pathLst>
              <a:path w="4198323" h="4927127">
                <a:moveTo>
                  <a:pt x="0" y="0"/>
                </a:moveTo>
                <a:lnTo>
                  <a:pt x="4198322" y="0"/>
                </a:lnTo>
                <a:lnTo>
                  <a:pt x="4198322" y="4927127"/>
                </a:lnTo>
                <a:lnTo>
                  <a:pt x="0" y="4927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 rot="-9701020">
            <a:off x="14167651" y="-919412"/>
            <a:ext cx="6804849" cy="4751022"/>
          </a:xfrm>
          <a:custGeom>
            <a:avLst/>
            <a:gdLst/>
            <a:ahLst/>
            <a:cxnLst/>
            <a:rect l="l" t="t" r="r" b="b"/>
            <a:pathLst>
              <a:path w="6804849" h="4751022">
                <a:moveTo>
                  <a:pt x="0" y="0"/>
                </a:moveTo>
                <a:lnTo>
                  <a:pt x="6804849" y="0"/>
                </a:lnTo>
                <a:lnTo>
                  <a:pt x="6804849" y="4751022"/>
                </a:lnTo>
                <a:lnTo>
                  <a:pt x="0" y="475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171282">
            <a:off x="7520441" y="7509491"/>
            <a:ext cx="6656340" cy="5555019"/>
          </a:xfrm>
          <a:custGeom>
            <a:avLst/>
            <a:gdLst/>
            <a:ahLst/>
            <a:cxnLst/>
            <a:rect l="l" t="t" r="r" b="b"/>
            <a:pathLst>
              <a:path w="6656340" h="5555019">
                <a:moveTo>
                  <a:pt x="0" y="0"/>
                </a:moveTo>
                <a:lnTo>
                  <a:pt x="6656340" y="0"/>
                </a:lnTo>
                <a:lnTo>
                  <a:pt x="6656340" y="5555018"/>
                </a:lnTo>
                <a:lnTo>
                  <a:pt x="0" y="5555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2716201" y="-1751"/>
            <a:ext cx="5571799" cy="10624040"/>
            <a:chOff x="0" y="0"/>
            <a:chExt cx="1467470" cy="27981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7470" cy="2798101"/>
            </a:xfrm>
            <a:custGeom>
              <a:avLst/>
              <a:gdLst/>
              <a:ahLst/>
              <a:cxnLst/>
              <a:rect l="l" t="t" r="r" b="b"/>
              <a:pathLst>
                <a:path w="1467470" h="2798101">
                  <a:moveTo>
                    <a:pt x="0" y="0"/>
                  </a:moveTo>
                  <a:lnTo>
                    <a:pt x="1467470" y="0"/>
                  </a:lnTo>
                  <a:lnTo>
                    <a:pt x="1467470" y="2798101"/>
                  </a:lnTo>
                  <a:lnTo>
                    <a:pt x="0" y="2798101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467470" cy="2798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52733" y="4131376"/>
            <a:ext cx="5813513" cy="479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1"/>
              </a:lnSpc>
            </a:pPr>
            <a:r>
              <a:rPr lang="es-CL" sz="3022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Resultados Sprint 2:</a:t>
            </a:r>
          </a:p>
          <a:p>
            <a:pPr algn="l">
              <a:lnSpc>
                <a:spcPts val="4231"/>
              </a:lnSpc>
            </a:pPr>
            <a:endParaRPr lang="es-CL" sz="3022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52503" lvl="1" indent="-326251" algn="l">
              <a:lnSpc>
                <a:spcPts val="4231"/>
              </a:lnSpc>
              <a:buFont typeface="Arial"/>
              <a:buChar char="•"/>
            </a:pPr>
            <a:r>
              <a:rPr lang="es-CL" sz="3022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Integración exitosa entre </a:t>
            </a:r>
            <a:r>
              <a:rPr lang="es-CL" sz="3022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r>
              <a:rPr lang="es-CL" sz="3022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s-CL" sz="3022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r>
              <a:rPr lang="es-CL" sz="3022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652503" lvl="1" indent="-326251" algn="l">
              <a:lnSpc>
                <a:spcPts val="4231"/>
              </a:lnSpc>
              <a:buFont typeface="Arial"/>
              <a:buChar char="•"/>
            </a:pPr>
            <a:r>
              <a:rPr lang="es-CL" sz="3022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Autenticación robusta y segura.</a:t>
            </a:r>
          </a:p>
          <a:p>
            <a:pPr marL="652503" lvl="1" indent="-326251" algn="l">
              <a:lnSpc>
                <a:spcPts val="4231"/>
              </a:lnSpc>
              <a:buFont typeface="Arial"/>
              <a:buChar char="•"/>
            </a:pPr>
            <a:r>
              <a:rPr lang="es-CL" sz="3022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Buena colaboración y comunicación del equipo.</a:t>
            </a:r>
          </a:p>
          <a:p>
            <a:pPr algn="ctr">
              <a:lnSpc>
                <a:spcPts val="4231"/>
              </a:lnSpc>
            </a:pPr>
            <a:endParaRPr lang="es-CL" sz="3022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Freeform 7"/>
          <p:cNvSpPr/>
          <p:nvPr/>
        </p:nvSpPr>
        <p:spPr>
          <a:xfrm rot="-5400000">
            <a:off x="443278" y="7448867"/>
            <a:ext cx="4064964" cy="4378777"/>
          </a:xfrm>
          <a:custGeom>
            <a:avLst/>
            <a:gdLst/>
            <a:ahLst/>
            <a:cxnLst/>
            <a:rect l="l" t="t" r="r" b="b"/>
            <a:pathLst>
              <a:path w="4064964" h="4378777">
                <a:moveTo>
                  <a:pt x="0" y="0"/>
                </a:moveTo>
                <a:lnTo>
                  <a:pt x="4064964" y="0"/>
                </a:lnTo>
                <a:lnTo>
                  <a:pt x="4064964" y="4378777"/>
                </a:lnTo>
                <a:lnTo>
                  <a:pt x="0" y="4378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 rot="-5597752">
            <a:off x="-350522" y="-2865545"/>
            <a:ext cx="4606509" cy="5406172"/>
          </a:xfrm>
          <a:custGeom>
            <a:avLst/>
            <a:gdLst/>
            <a:ahLst/>
            <a:cxnLst/>
            <a:rect l="l" t="t" r="r" b="b"/>
            <a:pathLst>
              <a:path w="4606509" h="5406172">
                <a:moveTo>
                  <a:pt x="0" y="0"/>
                </a:moveTo>
                <a:lnTo>
                  <a:pt x="4606509" y="0"/>
                </a:lnTo>
                <a:lnTo>
                  <a:pt x="4606509" y="5406171"/>
                </a:lnTo>
                <a:lnTo>
                  <a:pt x="0" y="5406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>
            <a:off x="10556686" y="1837448"/>
            <a:ext cx="8715986" cy="7800808"/>
          </a:xfrm>
          <a:custGeom>
            <a:avLst/>
            <a:gdLst/>
            <a:ahLst/>
            <a:cxnLst/>
            <a:rect l="l" t="t" r="r" b="b"/>
            <a:pathLst>
              <a:path w="8715986" h="7800808">
                <a:moveTo>
                  <a:pt x="0" y="0"/>
                </a:moveTo>
                <a:lnTo>
                  <a:pt x="8715986" y="0"/>
                </a:lnTo>
                <a:lnTo>
                  <a:pt x="8715986" y="7800808"/>
                </a:lnTo>
                <a:lnTo>
                  <a:pt x="0" y="7800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665041" y="2526755"/>
            <a:ext cx="6237452" cy="129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3"/>
              </a:lnSpc>
            </a:pPr>
            <a:r>
              <a:rPr lang="es-CL" sz="7686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Sprint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7526" y="3497509"/>
            <a:ext cx="9437651" cy="356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Resultados Sprint 3:</a:t>
            </a:r>
          </a:p>
          <a:p>
            <a:pPr algn="l">
              <a:lnSpc>
                <a:spcPts val="4740"/>
              </a:lnSpc>
            </a:pPr>
            <a:endParaRPr lang="es-CL" sz="3000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1" indent="-323850" algn="l">
              <a:lnSpc>
                <a:spcPts val="4740"/>
              </a:lnSpc>
              <a:buFont typeface="Arial"/>
              <a:buChar char="•"/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Migración móvil exitosa sin pérdida de datos.</a:t>
            </a:r>
          </a:p>
          <a:p>
            <a:pPr marL="647700" lvl="1" indent="-323850" algn="l">
              <a:lnSpc>
                <a:spcPts val="4740"/>
              </a:lnSpc>
              <a:buFont typeface="Arial"/>
              <a:buChar char="•"/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Comunicación segura y estable entre capas.</a:t>
            </a:r>
          </a:p>
          <a:p>
            <a:pPr marL="647700" lvl="1" indent="-323850" algn="l">
              <a:lnSpc>
                <a:spcPts val="4740"/>
              </a:lnSpc>
              <a:buFont typeface="Arial"/>
              <a:buChar char="•"/>
            </a:pPr>
            <a:r>
              <a:rPr lang="es-CL" sz="3000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Documentación técnica clara y completa.</a:t>
            </a:r>
          </a:p>
          <a:p>
            <a:pPr marL="0" lvl="1" indent="0" algn="l">
              <a:lnSpc>
                <a:spcPts val="4740"/>
              </a:lnSpc>
            </a:pPr>
            <a:endParaRPr lang="es-CL" sz="3000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253649" y="5889777"/>
            <a:ext cx="8115300" cy="4529813"/>
          </a:xfrm>
          <a:custGeom>
            <a:avLst/>
            <a:gdLst/>
            <a:ahLst/>
            <a:cxnLst/>
            <a:rect l="l" t="t" r="r" b="b"/>
            <a:pathLst>
              <a:path w="8115300" h="4529813">
                <a:moveTo>
                  <a:pt x="0" y="0"/>
                </a:moveTo>
                <a:lnTo>
                  <a:pt x="8115300" y="0"/>
                </a:lnTo>
                <a:lnTo>
                  <a:pt x="8115300" y="4529813"/>
                </a:lnTo>
                <a:lnTo>
                  <a:pt x="0" y="4529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-68269" y="8154684"/>
            <a:ext cx="6929498" cy="3154046"/>
            <a:chOff x="0" y="0"/>
            <a:chExt cx="1825053" cy="8306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5053" cy="830695"/>
            </a:xfrm>
            <a:custGeom>
              <a:avLst/>
              <a:gdLst/>
              <a:ahLst/>
              <a:cxnLst/>
              <a:rect l="l" t="t" r="r" b="b"/>
              <a:pathLst>
                <a:path w="1825053" h="830695">
                  <a:moveTo>
                    <a:pt x="0" y="0"/>
                  </a:moveTo>
                  <a:lnTo>
                    <a:pt x="1825053" y="0"/>
                  </a:lnTo>
                  <a:lnTo>
                    <a:pt x="1825053" y="830695"/>
                  </a:lnTo>
                  <a:lnTo>
                    <a:pt x="0" y="830695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825053" cy="830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7" name="Freeform 7"/>
          <p:cNvSpPr/>
          <p:nvPr/>
        </p:nvSpPr>
        <p:spPr>
          <a:xfrm rot="-10138291">
            <a:off x="1395376" y="-2478432"/>
            <a:ext cx="4592714" cy="4276965"/>
          </a:xfrm>
          <a:custGeom>
            <a:avLst/>
            <a:gdLst/>
            <a:ahLst/>
            <a:cxnLst/>
            <a:rect l="l" t="t" r="r" b="b"/>
            <a:pathLst>
              <a:path w="4592714" h="4276965">
                <a:moveTo>
                  <a:pt x="0" y="0"/>
                </a:moveTo>
                <a:lnTo>
                  <a:pt x="4592715" y="0"/>
                </a:lnTo>
                <a:lnTo>
                  <a:pt x="4592715" y="4276965"/>
                </a:lnTo>
                <a:lnTo>
                  <a:pt x="0" y="427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 rot="-9747750">
            <a:off x="12542290" y="-556189"/>
            <a:ext cx="7506413" cy="3234581"/>
          </a:xfrm>
          <a:custGeom>
            <a:avLst/>
            <a:gdLst/>
            <a:ahLst/>
            <a:cxnLst/>
            <a:rect l="l" t="t" r="r" b="b"/>
            <a:pathLst>
              <a:path w="7506413" h="3234581">
                <a:moveTo>
                  <a:pt x="0" y="0"/>
                </a:moveTo>
                <a:lnTo>
                  <a:pt x="7506413" y="0"/>
                </a:lnTo>
                <a:lnTo>
                  <a:pt x="7506413" y="3234581"/>
                </a:lnTo>
                <a:lnTo>
                  <a:pt x="0" y="32345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>
            <a:off x="2407236" y="7457159"/>
            <a:ext cx="5393524" cy="4173239"/>
          </a:xfrm>
          <a:custGeom>
            <a:avLst/>
            <a:gdLst/>
            <a:ahLst/>
            <a:cxnLst/>
            <a:rect l="l" t="t" r="r" b="b"/>
            <a:pathLst>
              <a:path w="5393524" h="4173239">
                <a:moveTo>
                  <a:pt x="0" y="0"/>
                </a:moveTo>
                <a:lnTo>
                  <a:pt x="5393524" y="0"/>
                </a:lnTo>
                <a:lnTo>
                  <a:pt x="5393524" y="4173239"/>
                </a:lnTo>
                <a:lnTo>
                  <a:pt x="0" y="41732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397526" y="1697284"/>
            <a:ext cx="9437651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s-CL" sz="5000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Sprint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8881" y="-450495"/>
            <a:ext cx="6071117" cy="10737495"/>
            <a:chOff x="0" y="0"/>
            <a:chExt cx="1598977" cy="2827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98977" cy="2827982"/>
            </a:xfrm>
            <a:custGeom>
              <a:avLst/>
              <a:gdLst/>
              <a:ahLst/>
              <a:cxnLst/>
              <a:rect l="l" t="t" r="r" b="b"/>
              <a:pathLst>
                <a:path w="1598977" h="2827982">
                  <a:moveTo>
                    <a:pt x="0" y="0"/>
                  </a:moveTo>
                  <a:lnTo>
                    <a:pt x="1598977" y="0"/>
                  </a:lnTo>
                  <a:lnTo>
                    <a:pt x="1598977" y="2827982"/>
                  </a:lnTo>
                  <a:lnTo>
                    <a:pt x="0" y="2827982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598977" cy="2827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-7169010">
            <a:off x="2171507" y="-887326"/>
            <a:ext cx="6113983" cy="5102397"/>
          </a:xfrm>
          <a:custGeom>
            <a:avLst/>
            <a:gdLst/>
            <a:ahLst/>
            <a:cxnLst/>
            <a:rect l="l" t="t" r="r" b="b"/>
            <a:pathLst>
              <a:path w="6113983" h="5102397">
                <a:moveTo>
                  <a:pt x="0" y="0"/>
                </a:moveTo>
                <a:lnTo>
                  <a:pt x="6113983" y="0"/>
                </a:lnTo>
                <a:lnTo>
                  <a:pt x="6113983" y="5102397"/>
                </a:lnTo>
                <a:lnTo>
                  <a:pt x="0" y="5102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656824">
            <a:off x="13105693" y="8097612"/>
            <a:ext cx="4064964" cy="4378777"/>
          </a:xfrm>
          <a:custGeom>
            <a:avLst/>
            <a:gdLst/>
            <a:ahLst/>
            <a:cxnLst/>
            <a:rect l="l" t="t" r="r" b="b"/>
            <a:pathLst>
              <a:path w="4064964" h="4378777">
                <a:moveTo>
                  <a:pt x="0" y="0"/>
                </a:moveTo>
                <a:lnTo>
                  <a:pt x="4064965" y="0"/>
                </a:lnTo>
                <a:lnTo>
                  <a:pt x="4064965" y="4378776"/>
                </a:lnTo>
                <a:lnTo>
                  <a:pt x="0" y="4378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911530" y="3397305"/>
            <a:ext cx="8232470" cy="6428187"/>
          </a:xfrm>
          <a:custGeom>
            <a:avLst/>
            <a:gdLst/>
            <a:ahLst/>
            <a:cxnLst/>
            <a:rect l="l" t="t" r="r" b="b"/>
            <a:pathLst>
              <a:path w="8232470" h="6428187">
                <a:moveTo>
                  <a:pt x="0" y="0"/>
                </a:moveTo>
                <a:lnTo>
                  <a:pt x="8232470" y="0"/>
                </a:lnTo>
                <a:lnTo>
                  <a:pt x="8232470" y="6428187"/>
                </a:lnTo>
                <a:lnTo>
                  <a:pt x="0" y="6428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9485372" y="931584"/>
            <a:ext cx="7465596" cy="116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2"/>
              </a:lnSpc>
            </a:pPr>
            <a:r>
              <a:rPr lang="es-CL" sz="6164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Sprint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7410" y="2476042"/>
            <a:ext cx="7321521" cy="477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9"/>
              </a:lnSpc>
            </a:pP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Resultados Sprint 4:</a:t>
            </a:r>
          </a:p>
          <a:p>
            <a:pPr algn="l">
              <a:lnSpc>
                <a:spcPts val="4739"/>
              </a:lnSpc>
            </a:pPr>
            <a:endParaRPr lang="es-CL" sz="2999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Excelente sincronización entre </a:t>
            </a:r>
            <a:r>
              <a:rPr lang="es-CL" sz="29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s-CL" sz="29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Panel </a:t>
            </a:r>
            <a:r>
              <a:rPr lang="es-CL" sz="29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admin</a:t>
            </a: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funcional y estable.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Buen cumplimiento de plazos.</a:t>
            </a:r>
          </a:p>
          <a:p>
            <a:pPr algn="l">
              <a:lnSpc>
                <a:spcPts val="4739"/>
              </a:lnSpc>
            </a:pPr>
            <a:endParaRPr lang="es-CL" sz="2999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1" indent="0" algn="l">
              <a:lnSpc>
                <a:spcPts val="4739"/>
              </a:lnSpc>
            </a:pPr>
            <a:endParaRPr lang="es-CL" sz="2999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6350" y="1085850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789" b="-100432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7712332" y="198755"/>
            <a:ext cx="2955667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noProof="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Revisión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29700" y="10287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88" r="-38888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905" r="-20872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3672542" y="141605"/>
            <a:ext cx="3033058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noProof="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Solicitud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28124" y="141605"/>
            <a:ext cx="396449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noProof="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9245389" cy="5743698"/>
          </a:xfrm>
          <a:custGeom>
            <a:avLst/>
            <a:gdLst/>
            <a:ahLst/>
            <a:cxnLst/>
            <a:rect l="l" t="t" r="r" b="b"/>
            <a:pathLst>
              <a:path w="9245389" h="5743698">
                <a:moveTo>
                  <a:pt x="0" y="0"/>
                </a:moveTo>
                <a:lnTo>
                  <a:pt x="9245389" y="0"/>
                </a:lnTo>
                <a:lnTo>
                  <a:pt x="9245389" y="5743698"/>
                </a:lnTo>
                <a:lnTo>
                  <a:pt x="0" y="574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7984018" y="3519219"/>
            <a:ext cx="9275282" cy="5739081"/>
          </a:xfrm>
          <a:custGeom>
            <a:avLst/>
            <a:gdLst/>
            <a:ahLst/>
            <a:cxnLst/>
            <a:rect l="l" t="t" r="r" b="b"/>
            <a:pathLst>
              <a:path w="9275282" h="5739081">
                <a:moveTo>
                  <a:pt x="0" y="0"/>
                </a:moveTo>
                <a:lnTo>
                  <a:pt x="9275282" y="0"/>
                </a:lnTo>
                <a:lnTo>
                  <a:pt x="9275282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3657600" y="6677148"/>
            <a:ext cx="3800211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noProof="0" dirty="0">
                <a:solidFill>
                  <a:srgbClr val="00BF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Habilitada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01697" y="2632124"/>
            <a:ext cx="483992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s-CL" sz="5199" noProof="0" dirty="0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Deshabilitada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4224" y="2516238"/>
            <a:ext cx="20936449" cy="8231187"/>
            <a:chOff x="0" y="0"/>
            <a:chExt cx="5514126" cy="2167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14127" cy="2167885"/>
            </a:xfrm>
            <a:custGeom>
              <a:avLst/>
              <a:gdLst/>
              <a:ahLst/>
              <a:cxnLst/>
              <a:rect l="l" t="t" r="r" b="b"/>
              <a:pathLst>
                <a:path w="5514127" h="2167885">
                  <a:moveTo>
                    <a:pt x="0" y="0"/>
                  </a:moveTo>
                  <a:lnTo>
                    <a:pt x="5514127" y="0"/>
                  </a:lnTo>
                  <a:lnTo>
                    <a:pt x="5514127" y="2167885"/>
                  </a:lnTo>
                  <a:lnTo>
                    <a:pt x="0" y="2167885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514126" cy="2167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5635735">
            <a:off x="-1085604" y="2735778"/>
            <a:ext cx="3378436" cy="3632727"/>
          </a:xfrm>
          <a:custGeom>
            <a:avLst/>
            <a:gdLst/>
            <a:ahLst/>
            <a:cxnLst/>
            <a:rect l="l" t="t" r="r" b="b"/>
            <a:pathLst>
              <a:path w="3378436" h="3632727">
                <a:moveTo>
                  <a:pt x="0" y="0"/>
                </a:moveTo>
                <a:lnTo>
                  <a:pt x="3378436" y="0"/>
                </a:lnTo>
                <a:lnTo>
                  <a:pt x="3378436" y="3632727"/>
                </a:lnTo>
                <a:lnTo>
                  <a:pt x="0" y="3632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4419556" y="1095375"/>
            <a:ext cx="9448887" cy="820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5"/>
              </a:lnSpc>
            </a:pPr>
            <a:r>
              <a:rPr lang="es-CL" sz="5821" noProof="0" dirty="0">
                <a:solidFill>
                  <a:srgbClr val="6B94E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</a:t>
            </a:r>
          </a:p>
        </p:txBody>
      </p:sp>
      <p:sp>
        <p:nvSpPr>
          <p:cNvPr id="7" name="Freeform 7"/>
          <p:cNvSpPr/>
          <p:nvPr/>
        </p:nvSpPr>
        <p:spPr>
          <a:xfrm rot="-695401">
            <a:off x="13948116" y="-2196248"/>
            <a:ext cx="4355994" cy="5112169"/>
          </a:xfrm>
          <a:custGeom>
            <a:avLst/>
            <a:gdLst/>
            <a:ahLst/>
            <a:cxnLst/>
            <a:rect l="l" t="t" r="r" b="b"/>
            <a:pathLst>
              <a:path w="4355994" h="5112169">
                <a:moveTo>
                  <a:pt x="0" y="0"/>
                </a:moveTo>
                <a:lnTo>
                  <a:pt x="4355994" y="0"/>
                </a:lnTo>
                <a:lnTo>
                  <a:pt x="4355994" y="5112169"/>
                </a:lnTo>
                <a:lnTo>
                  <a:pt x="0" y="51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 rot="649584">
            <a:off x="13157750" y="6711210"/>
            <a:ext cx="7411161" cy="6184951"/>
          </a:xfrm>
          <a:custGeom>
            <a:avLst/>
            <a:gdLst/>
            <a:ahLst/>
            <a:cxnLst/>
            <a:rect l="l" t="t" r="r" b="b"/>
            <a:pathLst>
              <a:path w="7411161" h="6184951">
                <a:moveTo>
                  <a:pt x="0" y="0"/>
                </a:moveTo>
                <a:lnTo>
                  <a:pt x="7411161" y="0"/>
                </a:lnTo>
                <a:lnTo>
                  <a:pt x="7411161" y="6184951"/>
                </a:lnTo>
                <a:lnTo>
                  <a:pt x="0" y="6184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2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 rot="-3320438">
            <a:off x="4450137" y="417855"/>
            <a:ext cx="2188100" cy="1221689"/>
          </a:xfrm>
          <a:custGeom>
            <a:avLst/>
            <a:gdLst/>
            <a:ahLst/>
            <a:cxnLst/>
            <a:rect l="l" t="t" r="r" b="b"/>
            <a:pathLst>
              <a:path w="2188100" h="1221689">
                <a:moveTo>
                  <a:pt x="0" y="0"/>
                </a:moveTo>
                <a:lnTo>
                  <a:pt x="2188100" y="0"/>
                </a:lnTo>
                <a:lnTo>
                  <a:pt x="2188100" y="1221690"/>
                </a:lnTo>
                <a:lnTo>
                  <a:pt x="0" y="1221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5321313" y="2613476"/>
            <a:ext cx="7321521" cy="56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739"/>
              </a:lnSpc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¿Por qué elegimos Scrum?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31452" y="3996704"/>
            <a:ext cx="13023263" cy="477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proyecto puede evolucionar junto a las necesidades del usuario.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Cada sprint aporta funcionalidades reales y probadas (MVP primero).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Fortalece la colaboración del equipo con reuniones diarias, revisiones y retrospectivas mejoran la comunicación.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roles bien definidos: </a:t>
            </a:r>
            <a:r>
              <a:rPr lang="es-CL" sz="2999" noProof="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CL" sz="2999" noProof="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y Scrum Master.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Ciclos cortos permiten detectar errores tempranamente.</a:t>
            </a:r>
          </a:p>
          <a:p>
            <a:pPr marL="647697" lvl="1" indent="-323848" algn="l">
              <a:lnSpc>
                <a:spcPts val="4739"/>
              </a:lnSpc>
              <a:buFont typeface="Arial"/>
              <a:buChar char="•"/>
            </a:pPr>
            <a:r>
              <a:rPr lang="es-CL" sz="2999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Las retrospectivas permiten aprender y optimizar cada sprint.</a:t>
            </a:r>
          </a:p>
          <a:p>
            <a:pPr algn="l">
              <a:lnSpc>
                <a:spcPts val="4739"/>
              </a:lnSpc>
            </a:pPr>
            <a:endParaRPr lang="es-CL" sz="2999" noProof="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703133">
            <a:off x="11467523" y="5993807"/>
            <a:ext cx="7900389" cy="5515908"/>
          </a:xfrm>
          <a:custGeom>
            <a:avLst/>
            <a:gdLst/>
            <a:ahLst/>
            <a:cxnLst/>
            <a:rect l="l" t="t" r="r" b="b"/>
            <a:pathLst>
              <a:path w="7900389" h="5515908">
                <a:moveTo>
                  <a:pt x="0" y="0"/>
                </a:moveTo>
                <a:lnTo>
                  <a:pt x="7900389" y="0"/>
                </a:lnTo>
                <a:lnTo>
                  <a:pt x="7900389" y="5515909"/>
                </a:lnTo>
                <a:lnTo>
                  <a:pt x="0" y="55159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5170121" y="-220202"/>
            <a:ext cx="6071117" cy="10737495"/>
            <a:chOff x="0" y="0"/>
            <a:chExt cx="1598977" cy="28279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98977" cy="2827982"/>
            </a:xfrm>
            <a:custGeom>
              <a:avLst/>
              <a:gdLst/>
              <a:ahLst/>
              <a:cxnLst/>
              <a:rect l="l" t="t" r="r" b="b"/>
              <a:pathLst>
                <a:path w="1598977" h="2827982">
                  <a:moveTo>
                    <a:pt x="0" y="0"/>
                  </a:moveTo>
                  <a:lnTo>
                    <a:pt x="1598977" y="0"/>
                  </a:lnTo>
                  <a:lnTo>
                    <a:pt x="1598977" y="2827982"/>
                  </a:lnTo>
                  <a:lnTo>
                    <a:pt x="0" y="2827982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598977" cy="2827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10360157">
            <a:off x="4606949" y="-1830285"/>
            <a:ext cx="3945003" cy="3673784"/>
          </a:xfrm>
          <a:custGeom>
            <a:avLst/>
            <a:gdLst/>
            <a:ahLst/>
            <a:cxnLst/>
            <a:rect l="l" t="t" r="r" b="b"/>
            <a:pathLst>
              <a:path w="3945003" h="3673784">
                <a:moveTo>
                  <a:pt x="0" y="0"/>
                </a:moveTo>
                <a:lnTo>
                  <a:pt x="3945003" y="0"/>
                </a:lnTo>
                <a:lnTo>
                  <a:pt x="3945003" y="3673783"/>
                </a:lnTo>
                <a:lnTo>
                  <a:pt x="0" y="3673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8065400" y="2477956"/>
            <a:ext cx="6785442" cy="7021869"/>
          </a:xfrm>
          <a:custGeom>
            <a:avLst/>
            <a:gdLst/>
            <a:ahLst/>
            <a:cxnLst/>
            <a:rect l="l" t="t" r="r" b="b"/>
            <a:pathLst>
              <a:path w="6785442" h="7021869">
                <a:moveTo>
                  <a:pt x="0" y="0"/>
                </a:moveTo>
                <a:lnTo>
                  <a:pt x="6785442" y="0"/>
                </a:lnTo>
                <a:lnTo>
                  <a:pt x="6785442" y="7021869"/>
                </a:lnTo>
                <a:lnTo>
                  <a:pt x="0" y="7021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716145" y="4339769"/>
            <a:ext cx="6910359" cy="4529479"/>
          </a:xfrm>
          <a:custGeom>
            <a:avLst/>
            <a:gdLst/>
            <a:ahLst/>
            <a:cxnLst/>
            <a:rect l="l" t="t" r="r" b="b"/>
            <a:pathLst>
              <a:path w="6910359" h="4529479">
                <a:moveTo>
                  <a:pt x="0" y="0"/>
                </a:moveTo>
                <a:lnTo>
                  <a:pt x="6910359" y="0"/>
                </a:lnTo>
                <a:lnTo>
                  <a:pt x="6910359" y="4529479"/>
                </a:lnTo>
                <a:lnTo>
                  <a:pt x="0" y="4529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1530059" y="1566242"/>
            <a:ext cx="7022386" cy="145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25"/>
              </a:lnSpc>
              <a:spcBef>
                <a:spcPct val="0"/>
              </a:spcBef>
            </a:pPr>
            <a:r>
              <a:rPr lang="es-CL" sz="7089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Flujo de caja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703133">
            <a:off x="9723109" y="5953935"/>
            <a:ext cx="7900389" cy="5515908"/>
          </a:xfrm>
          <a:custGeom>
            <a:avLst/>
            <a:gdLst/>
            <a:ahLst/>
            <a:cxnLst/>
            <a:rect l="l" t="t" r="r" b="b"/>
            <a:pathLst>
              <a:path w="7900389" h="5515908">
                <a:moveTo>
                  <a:pt x="0" y="0"/>
                </a:moveTo>
                <a:lnTo>
                  <a:pt x="7900389" y="0"/>
                </a:lnTo>
                <a:lnTo>
                  <a:pt x="7900389" y="5515908"/>
                </a:lnTo>
                <a:lnTo>
                  <a:pt x="0" y="5515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3425707" y="-260074"/>
            <a:ext cx="6071117" cy="10737495"/>
            <a:chOff x="0" y="0"/>
            <a:chExt cx="1598977" cy="28279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98977" cy="2827982"/>
            </a:xfrm>
            <a:custGeom>
              <a:avLst/>
              <a:gdLst/>
              <a:ahLst/>
              <a:cxnLst/>
              <a:rect l="l" t="t" r="r" b="b"/>
              <a:pathLst>
                <a:path w="1598977" h="2827982">
                  <a:moveTo>
                    <a:pt x="0" y="0"/>
                  </a:moveTo>
                  <a:lnTo>
                    <a:pt x="1598977" y="0"/>
                  </a:lnTo>
                  <a:lnTo>
                    <a:pt x="1598977" y="2827982"/>
                  </a:lnTo>
                  <a:lnTo>
                    <a:pt x="0" y="2827982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598977" cy="2827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 rot="-10360157">
            <a:off x="4606949" y="-1830285"/>
            <a:ext cx="3945003" cy="3673784"/>
          </a:xfrm>
          <a:custGeom>
            <a:avLst/>
            <a:gdLst/>
            <a:ahLst/>
            <a:cxnLst/>
            <a:rect l="l" t="t" r="r" b="b"/>
            <a:pathLst>
              <a:path w="3945003" h="3673784">
                <a:moveTo>
                  <a:pt x="0" y="0"/>
                </a:moveTo>
                <a:lnTo>
                  <a:pt x="3945003" y="0"/>
                </a:lnTo>
                <a:lnTo>
                  <a:pt x="3945003" y="3673783"/>
                </a:lnTo>
                <a:lnTo>
                  <a:pt x="0" y="3673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2202912" y="1560142"/>
            <a:ext cx="3735651" cy="7166717"/>
          </a:xfrm>
          <a:custGeom>
            <a:avLst/>
            <a:gdLst/>
            <a:ahLst/>
            <a:cxnLst/>
            <a:rect l="l" t="t" r="r" b="b"/>
            <a:pathLst>
              <a:path w="3735651" h="7166717">
                <a:moveTo>
                  <a:pt x="0" y="0"/>
                </a:moveTo>
                <a:lnTo>
                  <a:pt x="3735652" y="0"/>
                </a:lnTo>
                <a:lnTo>
                  <a:pt x="3735652" y="7166716"/>
                </a:lnTo>
                <a:lnTo>
                  <a:pt x="0" y="7166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985636" y="2788400"/>
            <a:ext cx="8615070" cy="3257941"/>
          </a:xfrm>
          <a:custGeom>
            <a:avLst/>
            <a:gdLst/>
            <a:ahLst/>
            <a:cxnLst/>
            <a:rect l="l" t="t" r="r" b="b"/>
            <a:pathLst>
              <a:path w="8615070" h="3257941">
                <a:moveTo>
                  <a:pt x="0" y="0"/>
                </a:moveTo>
                <a:lnTo>
                  <a:pt x="8615070" y="0"/>
                </a:lnTo>
                <a:lnTo>
                  <a:pt x="8615070" y="3257940"/>
                </a:lnTo>
                <a:lnTo>
                  <a:pt x="0" y="32579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>
            <a:off x="1961895" y="6046340"/>
            <a:ext cx="9235111" cy="4015266"/>
          </a:xfrm>
          <a:custGeom>
            <a:avLst/>
            <a:gdLst/>
            <a:ahLst/>
            <a:cxnLst/>
            <a:rect l="l" t="t" r="r" b="b"/>
            <a:pathLst>
              <a:path w="9235111" h="4015266">
                <a:moveTo>
                  <a:pt x="0" y="0"/>
                </a:moveTo>
                <a:lnTo>
                  <a:pt x="9235111" y="0"/>
                </a:lnTo>
                <a:lnTo>
                  <a:pt x="9235111" y="4015266"/>
                </a:lnTo>
                <a:lnTo>
                  <a:pt x="0" y="4015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530059" y="1566242"/>
            <a:ext cx="7022386" cy="145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25"/>
              </a:lnSpc>
              <a:spcBef>
                <a:spcPct val="0"/>
              </a:spcBef>
            </a:pPr>
            <a:r>
              <a:rPr lang="es-CL" sz="7089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Flujo de caja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4529" y="7327606"/>
            <a:ext cx="20137058" cy="2959394"/>
            <a:chOff x="0" y="0"/>
            <a:chExt cx="5303587" cy="779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3587" cy="779429"/>
            </a:xfrm>
            <a:custGeom>
              <a:avLst/>
              <a:gdLst/>
              <a:ahLst/>
              <a:cxnLst/>
              <a:rect l="l" t="t" r="r" b="b"/>
              <a:pathLst>
                <a:path w="5303587" h="779429">
                  <a:moveTo>
                    <a:pt x="0" y="0"/>
                  </a:moveTo>
                  <a:lnTo>
                    <a:pt x="5303587" y="0"/>
                  </a:lnTo>
                  <a:lnTo>
                    <a:pt x="5303587" y="779429"/>
                  </a:lnTo>
                  <a:lnTo>
                    <a:pt x="0" y="779429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303587" cy="77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2978992" y="6223602"/>
            <a:ext cx="12239398" cy="3748316"/>
          </a:xfrm>
          <a:custGeom>
            <a:avLst/>
            <a:gdLst/>
            <a:ahLst/>
            <a:cxnLst/>
            <a:rect l="l" t="t" r="r" b="b"/>
            <a:pathLst>
              <a:path w="12239398" h="3748316">
                <a:moveTo>
                  <a:pt x="0" y="0"/>
                </a:moveTo>
                <a:lnTo>
                  <a:pt x="12239398" y="0"/>
                </a:lnTo>
                <a:lnTo>
                  <a:pt x="12239398" y="3748316"/>
                </a:lnTo>
                <a:lnTo>
                  <a:pt x="0" y="3748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3300726" y="6560936"/>
            <a:ext cx="3094329" cy="3072878"/>
            <a:chOff x="0" y="0"/>
            <a:chExt cx="888783" cy="8826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8783" cy="882622"/>
            </a:xfrm>
            <a:custGeom>
              <a:avLst/>
              <a:gdLst/>
              <a:ahLst/>
              <a:cxnLst/>
              <a:rect l="l" t="t" r="r" b="b"/>
              <a:pathLst>
                <a:path w="888783" h="882622">
                  <a:moveTo>
                    <a:pt x="57545" y="0"/>
                  </a:moveTo>
                  <a:lnTo>
                    <a:pt x="831238" y="0"/>
                  </a:lnTo>
                  <a:cubicBezTo>
                    <a:pt x="846500" y="0"/>
                    <a:pt x="861137" y="6063"/>
                    <a:pt x="871929" y="16855"/>
                  </a:cubicBezTo>
                  <a:cubicBezTo>
                    <a:pt x="882720" y="27646"/>
                    <a:pt x="888783" y="42283"/>
                    <a:pt x="888783" y="57545"/>
                  </a:cubicBezTo>
                  <a:lnTo>
                    <a:pt x="888783" y="825077"/>
                  </a:lnTo>
                  <a:cubicBezTo>
                    <a:pt x="888783" y="840339"/>
                    <a:pt x="882720" y="854975"/>
                    <a:pt x="871929" y="865767"/>
                  </a:cubicBezTo>
                  <a:cubicBezTo>
                    <a:pt x="861137" y="876559"/>
                    <a:pt x="846500" y="882622"/>
                    <a:pt x="831238" y="882622"/>
                  </a:cubicBezTo>
                  <a:lnTo>
                    <a:pt x="57545" y="882622"/>
                  </a:lnTo>
                  <a:cubicBezTo>
                    <a:pt x="42283" y="882622"/>
                    <a:pt x="27646" y="876559"/>
                    <a:pt x="16855" y="865767"/>
                  </a:cubicBezTo>
                  <a:cubicBezTo>
                    <a:pt x="6063" y="854975"/>
                    <a:pt x="0" y="840339"/>
                    <a:pt x="0" y="825077"/>
                  </a:cubicBezTo>
                  <a:lnTo>
                    <a:pt x="0" y="57545"/>
                  </a:lnTo>
                  <a:cubicBezTo>
                    <a:pt x="0" y="42283"/>
                    <a:pt x="6063" y="27646"/>
                    <a:pt x="16855" y="16855"/>
                  </a:cubicBezTo>
                  <a:cubicBezTo>
                    <a:pt x="27646" y="6063"/>
                    <a:pt x="42283" y="0"/>
                    <a:pt x="57545" y="0"/>
                  </a:cubicBezTo>
                  <a:close/>
                </a:path>
              </a:pathLst>
            </a:custGeom>
            <a:blipFill>
              <a:blip r:embed="rId4"/>
              <a:stretch>
                <a:fillRect l="-24456" r="-24456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51527" y="6560936"/>
            <a:ext cx="3094329" cy="3072878"/>
            <a:chOff x="0" y="0"/>
            <a:chExt cx="888783" cy="882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8783" cy="882622"/>
            </a:xfrm>
            <a:custGeom>
              <a:avLst/>
              <a:gdLst/>
              <a:ahLst/>
              <a:cxnLst/>
              <a:rect l="l" t="t" r="r" b="b"/>
              <a:pathLst>
                <a:path w="888783" h="882622">
                  <a:moveTo>
                    <a:pt x="57545" y="0"/>
                  </a:moveTo>
                  <a:lnTo>
                    <a:pt x="831238" y="0"/>
                  </a:lnTo>
                  <a:cubicBezTo>
                    <a:pt x="846500" y="0"/>
                    <a:pt x="861137" y="6063"/>
                    <a:pt x="871929" y="16855"/>
                  </a:cubicBezTo>
                  <a:cubicBezTo>
                    <a:pt x="882720" y="27646"/>
                    <a:pt x="888783" y="42283"/>
                    <a:pt x="888783" y="57545"/>
                  </a:cubicBezTo>
                  <a:lnTo>
                    <a:pt x="888783" y="825077"/>
                  </a:lnTo>
                  <a:cubicBezTo>
                    <a:pt x="888783" y="840339"/>
                    <a:pt x="882720" y="854975"/>
                    <a:pt x="871929" y="865767"/>
                  </a:cubicBezTo>
                  <a:cubicBezTo>
                    <a:pt x="861137" y="876559"/>
                    <a:pt x="846500" y="882622"/>
                    <a:pt x="831238" y="882622"/>
                  </a:cubicBezTo>
                  <a:lnTo>
                    <a:pt x="57545" y="882622"/>
                  </a:lnTo>
                  <a:cubicBezTo>
                    <a:pt x="42283" y="882622"/>
                    <a:pt x="27646" y="876559"/>
                    <a:pt x="16855" y="865767"/>
                  </a:cubicBezTo>
                  <a:cubicBezTo>
                    <a:pt x="6063" y="854975"/>
                    <a:pt x="0" y="840339"/>
                    <a:pt x="0" y="825077"/>
                  </a:cubicBezTo>
                  <a:lnTo>
                    <a:pt x="0" y="57545"/>
                  </a:lnTo>
                  <a:cubicBezTo>
                    <a:pt x="0" y="42283"/>
                    <a:pt x="6063" y="27646"/>
                    <a:pt x="16855" y="16855"/>
                  </a:cubicBezTo>
                  <a:cubicBezTo>
                    <a:pt x="27646" y="6063"/>
                    <a:pt x="42283" y="0"/>
                    <a:pt x="57545" y="0"/>
                  </a:cubicBezTo>
                  <a:close/>
                </a:path>
              </a:pathLst>
            </a:custGeom>
            <a:blipFill>
              <a:blip r:embed="rId5"/>
              <a:stretch>
                <a:fillRect l="-24387" r="-24387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98381" y="6561321"/>
            <a:ext cx="3094329" cy="3072878"/>
            <a:chOff x="0" y="0"/>
            <a:chExt cx="888783" cy="8826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8783" cy="882622"/>
            </a:xfrm>
            <a:custGeom>
              <a:avLst/>
              <a:gdLst/>
              <a:ahLst/>
              <a:cxnLst/>
              <a:rect l="l" t="t" r="r" b="b"/>
              <a:pathLst>
                <a:path w="888783" h="882622">
                  <a:moveTo>
                    <a:pt x="57545" y="0"/>
                  </a:moveTo>
                  <a:lnTo>
                    <a:pt x="831238" y="0"/>
                  </a:lnTo>
                  <a:cubicBezTo>
                    <a:pt x="846500" y="0"/>
                    <a:pt x="861137" y="6063"/>
                    <a:pt x="871929" y="16855"/>
                  </a:cubicBezTo>
                  <a:cubicBezTo>
                    <a:pt x="882720" y="27646"/>
                    <a:pt x="888783" y="42283"/>
                    <a:pt x="888783" y="57545"/>
                  </a:cubicBezTo>
                  <a:lnTo>
                    <a:pt x="888783" y="825077"/>
                  </a:lnTo>
                  <a:cubicBezTo>
                    <a:pt x="888783" y="840339"/>
                    <a:pt x="882720" y="854975"/>
                    <a:pt x="871929" y="865767"/>
                  </a:cubicBezTo>
                  <a:cubicBezTo>
                    <a:pt x="861137" y="876559"/>
                    <a:pt x="846500" y="882622"/>
                    <a:pt x="831238" y="882622"/>
                  </a:cubicBezTo>
                  <a:lnTo>
                    <a:pt x="57545" y="882622"/>
                  </a:lnTo>
                  <a:cubicBezTo>
                    <a:pt x="42283" y="882622"/>
                    <a:pt x="27646" y="876559"/>
                    <a:pt x="16855" y="865767"/>
                  </a:cubicBezTo>
                  <a:cubicBezTo>
                    <a:pt x="6063" y="854975"/>
                    <a:pt x="0" y="840339"/>
                    <a:pt x="0" y="825077"/>
                  </a:cubicBezTo>
                  <a:lnTo>
                    <a:pt x="0" y="57545"/>
                  </a:lnTo>
                  <a:cubicBezTo>
                    <a:pt x="0" y="42283"/>
                    <a:pt x="6063" y="27646"/>
                    <a:pt x="16855" y="16855"/>
                  </a:cubicBezTo>
                  <a:cubicBezTo>
                    <a:pt x="27646" y="6063"/>
                    <a:pt x="42283" y="0"/>
                    <a:pt x="57545" y="0"/>
                  </a:cubicBezTo>
                  <a:close/>
                </a:path>
              </a:pathLst>
            </a:custGeom>
            <a:blipFill>
              <a:blip r:embed="rId6"/>
              <a:stretch>
                <a:fillRect l="-24480" r="-2448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2" name="Freeform 12"/>
          <p:cNvSpPr/>
          <p:nvPr/>
        </p:nvSpPr>
        <p:spPr>
          <a:xfrm rot="8287813">
            <a:off x="-2119045" y="-1378542"/>
            <a:ext cx="7506413" cy="3234581"/>
          </a:xfrm>
          <a:custGeom>
            <a:avLst/>
            <a:gdLst/>
            <a:ahLst/>
            <a:cxnLst/>
            <a:rect l="l" t="t" r="r" b="b"/>
            <a:pathLst>
              <a:path w="7506413" h="3234581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3423200" y="527202"/>
            <a:ext cx="114416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5"/>
              </a:lnSpc>
            </a:pPr>
            <a:r>
              <a:rPr lang="es-CL" sz="7500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Lecciones aprendidas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71799" y="2045077"/>
            <a:ext cx="12846591" cy="393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49"/>
              </a:lnSpc>
              <a:buFont typeface="Arial"/>
              <a:buChar char="•"/>
            </a:pP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Los cambios a mitad del proyecto (como pasar a app móvil) fueron manejables gracias a Scrum.</a:t>
            </a:r>
          </a:p>
          <a:p>
            <a:pPr marL="539749" lvl="1" indent="-269875" algn="l">
              <a:lnSpc>
                <a:spcPts val="3949"/>
              </a:lnSpc>
              <a:buFont typeface="Arial"/>
              <a:buChar char="•"/>
            </a:pP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El uso constante de </a:t>
            </a:r>
            <a:r>
              <a:rPr lang="es-CL" sz="24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dailies</a:t>
            </a: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evitó retrasos críticos y malentendidos técnicos.</a:t>
            </a:r>
          </a:p>
          <a:p>
            <a:pPr marL="539749" lvl="1" indent="-269875" algn="l">
              <a:lnSpc>
                <a:spcPts val="3949"/>
              </a:lnSpc>
              <a:buFont typeface="Arial"/>
              <a:buChar char="•"/>
            </a:pP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Tener un MVP funcional desde el Sprint 1 permitió recibir </a:t>
            </a:r>
            <a:r>
              <a:rPr lang="es-CL" sz="24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feedback</a:t>
            </a: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real.</a:t>
            </a:r>
          </a:p>
          <a:p>
            <a:pPr marL="539749" lvl="1" indent="-269875" algn="l">
              <a:lnSpc>
                <a:spcPts val="3949"/>
              </a:lnSpc>
              <a:buFont typeface="Arial"/>
              <a:buChar char="•"/>
            </a:pP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La independencia entre </a:t>
            </a:r>
            <a:r>
              <a:rPr lang="es-CL" sz="24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CL" sz="2499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y BD redujo riesgos y facilitó escalabilidad.</a:t>
            </a:r>
          </a:p>
          <a:p>
            <a:pPr marL="539749" lvl="1" indent="-269875" algn="l">
              <a:lnSpc>
                <a:spcPts val="3949"/>
              </a:lnSpc>
              <a:buFont typeface="Arial"/>
              <a:buChar char="•"/>
            </a:pP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Registrar decisiones técnicas ayudó a mantener claridad y continuidad.</a:t>
            </a:r>
          </a:p>
          <a:p>
            <a:pPr marL="0" lvl="1" indent="0" algn="l">
              <a:lnSpc>
                <a:spcPts val="3949"/>
              </a:lnSpc>
            </a:pPr>
            <a:endParaRPr lang="es-CL" sz="2499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Freeform 15"/>
          <p:cNvSpPr/>
          <p:nvPr/>
        </p:nvSpPr>
        <p:spPr>
          <a:xfrm rot="5635735">
            <a:off x="16598782" y="3757245"/>
            <a:ext cx="3378436" cy="3632727"/>
          </a:xfrm>
          <a:custGeom>
            <a:avLst/>
            <a:gdLst/>
            <a:ahLst/>
            <a:cxnLst/>
            <a:rect l="l" t="t" r="r" b="b"/>
            <a:pathLst>
              <a:path w="3378436" h="3632727">
                <a:moveTo>
                  <a:pt x="0" y="0"/>
                </a:moveTo>
                <a:lnTo>
                  <a:pt x="3378436" y="0"/>
                </a:lnTo>
                <a:lnTo>
                  <a:pt x="3378436" y="3632727"/>
                </a:lnTo>
                <a:lnTo>
                  <a:pt x="0" y="3632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4529" y="7642689"/>
            <a:ext cx="20137058" cy="2959394"/>
            <a:chOff x="0" y="0"/>
            <a:chExt cx="5303587" cy="779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03587" cy="779429"/>
            </a:xfrm>
            <a:custGeom>
              <a:avLst/>
              <a:gdLst/>
              <a:ahLst/>
              <a:cxnLst/>
              <a:rect l="l" t="t" r="r" b="b"/>
              <a:pathLst>
                <a:path w="5303587" h="779429">
                  <a:moveTo>
                    <a:pt x="0" y="0"/>
                  </a:moveTo>
                  <a:lnTo>
                    <a:pt x="5303587" y="0"/>
                  </a:lnTo>
                  <a:lnTo>
                    <a:pt x="5303587" y="779429"/>
                  </a:lnTo>
                  <a:lnTo>
                    <a:pt x="0" y="779429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303587" cy="77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8287813">
            <a:off x="-1381407" y="-880138"/>
            <a:ext cx="7506413" cy="3234581"/>
          </a:xfrm>
          <a:custGeom>
            <a:avLst/>
            <a:gdLst/>
            <a:ahLst/>
            <a:cxnLst/>
            <a:rect l="l" t="t" r="r" b="b"/>
            <a:pathLst>
              <a:path w="7506413" h="3234581">
                <a:moveTo>
                  <a:pt x="0" y="0"/>
                </a:moveTo>
                <a:lnTo>
                  <a:pt x="7506412" y="0"/>
                </a:lnTo>
                <a:lnTo>
                  <a:pt x="7506412" y="3234582"/>
                </a:lnTo>
                <a:lnTo>
                  <a:pt x="0" y="3234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3496418" y="1442126"/>
            <a:ext cx="114416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5"/>
              </a:lnSpc>
            </a:pPr>
            <a:r>
              <a:rPr lang="es-CL" sz="7500" b="1" noProof="0" dirty="0">
                <a:solidFill>
                  <a:srgbClr val="6B94E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Conclusiones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71799" y="2986030"/>
            <a:ext cx="12846591" cy="443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49"/>
              </a:lnSpc>
            </a:pPr>
            <a:r>
              <a:rPr lang="es-CL" sz="2499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El desarrollo del proyecto confirmó que Scrum fue la metodología adecuada, ya que nos permitió adaptarnos a los cambios sin perder continuidad, especialmente al pasar de una página web a una app móvil. La comunicación constante y el trabajo colaborativo fueron claves para resolver problemas técnicos y mantener el ritmo de avance.</a:t>
            </a:r>
          </a:p>
          <a:p>
            <a:pPr algn="ctr">
              <a:lnSpc>
                <a:spcPts val="3949"/>
              </a:lnSpc>
            </a:pPr>
            <a:r>
              <a:rPr lang="es-CL" sz="2499" u="none" strike="noStrike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La arquitectura separada entre </a:t>
            </a:r>
            <a:r>
              <a:rPr lang="es-CL" sz="2499" u="none" strike="noStrike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r>
              <a:rPr lang="es-CL" sz="2499" u="none" strike="noStrike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CL" sz="2499" u="none" strike="noStrike" noProof="0" dirty="0" err="1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r>
              <a:rPr lang="es-CL" sz="2499" u="none" strike="noStrike" noProof="0" dirty="0">
                <a:solidFill>
                  <a:srgbClr val="4651BF"/>
                </a:solidFill>
                <a:latin typeface="DM Sans"/>
                <a:ea typeface="DM Sans"/>
                <a:cs typeface="DM Sans"/>
                <a:sym typeface="DM Sans"/>
              </a:rPr>
              <a:t> y base de datos fortaleció la seguridad y dejó al proyecto preparado para escalar en el futuro. Además, el enfoque iterativo nos permitió validar el MVP temprano y recoger retroalimentación útil.</a:t>
            </a:r>
          </a:p>
          <a:p>
            <a:pPr algn="ctr">
              <a:lnSpc>
                <a:spcPts val="3949"/>
              </a:lnSpc>
            </a:pPr>
            <a:endParaRPr lang="es-CL" sz="2499" u="none" strike="noStrike" noProof="0" dirty="0">
              <a:solidFill>
                <a:srgbClr val="4651B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Freeform 8"/>
          <p:cNvSpPr/>
          <p:nvPr/>
        </p:nvSpPr>
        <p:spPr>
          <a:xfrm rot="5635735">
            <a:off x="16598782" y="3757245"/>
            <a:ext cx="3378436" cy="3632727"/>
          </a:xfrm>
          <a:custGeom>
            <a:avLst/>
            <a:gdLst/>
            <a:ahLst/>
            <a:cxnLst/>
            <a:rect l="l" t="t" r="r" b="b"/>
            <a:pathLst>
              <a:path w="3378436" h="3632727">
                <a:moveTo>
                  <a:pt x="0" y="0"/>
                </a:moveTo>
                <a:lnTo>
                  <a:pt x="3378436" y="0"/>
                </a:lnTo>
                <a:lnTo>
                  <a:pt x="3378436" y="3632727"/>
                </a:lnTo>
                <a:lnTo>
                  <a:pt x="0" y="3632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7347" y="-371933"/>
            <a:ext cx="19375347" cy="4991343"/>
            <a:chOff x="0" y="0"/>
            <a:chExt cx="5102972" cy="131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2972" cy="1314592"/>
            </a:xfrm>
            <a:custGeom>
              <a:avLst/>
              <a:gdLst/>
              <a:ahLst/>
              <a:cxnLst/>
              <a:rect l="l" t="t" r="r" b="b"/>
              <a:pathLst>
                <a:path w="5102972" h="1314592">
                  <a:moveTo>
                    <a:pt x="0" y="0"/>
                  </a:moveTo>
                  <a:lnTo>
                    <a:pt x="5102972" y="0"/>
                  </a:lnTo>
                  <a:lnTo>
                    <a:pt x="5102972" y="1314592"/>
                  </a:lnTo>
                  <a:lnTo>
                    <a:pt x="0" y="1314592"/>
                  </a:lnTo>
                  <a:close/>
                </a:path>
              </a:pathLst>
            </a:custGeom>
            <a:gradFill rotWithShape="1">
              <a:gsLst>
                <a:gs pos="0">
                  <a:srgbClr val="7DC5DD">
                    <a:alpha val="100000"/>
                  </a:srgbClr>
                </a:gs>
                <a:gs pos="100000">
                  <a:srgbClr val="4651B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102972" cy="1314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1299896">
            <a:off x="13353219" y="3982382"/>
            <a:ext cx="8323328" cy="3586597"/>
          </a:xfrm>
          <a:custGeom>
            <a:avLst/>
            <a:gdLst/>
            <a:ahLst/>
            <a:cxnLst/>
            <a:rect l="l" t="t" r="r" b="b"/>
            <a:pathLst>
              <a:path w="8323328" h="3586597">
                <a:moveTo>
                  <a:pt x="0" y="0"/>
                </a:moveTo>
                <a:lnTo>
                  <a:pt x="8323328" y="0"/>
                </a:lnTo>
                <a:lnTo>
                  <a:pt x="8323328" y="3586598"/>
                </a:lnTo>
                <a:lnTo>
                  <a:pt x="0" y="3586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215097">
            <a:off x="-1501143" y="5974719"/>
            <a:ext cx="6537065" cy="5455478"/>
          </a:xfrm>
          <a:custGeom>
            <a:avLst/>
            <a:gdLst/>
            <a:ahLst/>
            <a:cxnLst/>
            <a:rect l="l" t="t" r="r" b="b"/>
            <a:pathLst>
              <a:path w="6537065" h="5455478">
                <a:moveTo>
                  <a:pt x="0" y="0"/>
                </a:moveTo>
                <a:lnTo>
                  <a:pt x="6537064" y="0"/>
                </a:lnTo>
                <a:lnTo>
                  <a:pt x="6537064" y="5455478"/>
                </a:lnTo>
                <a:lnTo>
                  <a:pt x="0" y="5455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4476267" y="4722913"/>
            <a:ext cx="9335465" cy="3979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39"/>
              </a:lnSpc>
              <a:spcBef>
                <a:spcPct val="0"/>
              </a:spcBef>
            </a:pPr>
            <a:r>
              <a:rPr lang="es-CL" sz="12000" b="1" noProof="0" dirty="0">
                <a:solidFill>
                  <a:srgbClr val="4651B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 POR SU ATENCIÓN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76267" y="3050927"/>
            <a:ext cx="9335465" cy="219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39"/>
              </a:lnSpc>
              <a:spcBef>
                <a:spcPct val="0"/>
              </a:spcBef>
            </a:pPr>
            <a:r>
              <a:rPr lang="es-CL" sz="12000" b="1" noProof="0" dirty="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GRACIAS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639</Words>
  <Application>Microsoft Office PowerPoint</Application>
  <PresentationFormat>Personalizado</PresentationFormat>
  <Paragraphs>112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DM Sans Bold</vt:lpstr>
      <vt:lpstr>Cerebri Bold</vt:lpstr>
      <vt:lpstr>Sugo Display</vt:lpstr>
      <vt:lpstr>Calibri</vt:lpstr>
      <vt:lpstr>DM Sans</vt:lpstr>
      <vt:lpstr>League Spartan</vt:lpstr>
      <vt:lpstr>29LT Bukra Bold</vt:lpstr>
      <vt:lpstr>Arial</vt:lpstr>
      <vt:lpstr>Cerebri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Paws</dc:title>
  <cp:lastModifiedBy>MATEO . SEPULVEDA VALENZUELA</cp:lastModifiedBy>
  <cp:revision>2</cp:revision>
  <dcterms:created xsi:type="dcterms:W3CDTF">2006-08-16T00:00:00Z</dcterms:created>
  <dcterms:modified xsi:type="dcterms:W3CDTF">2025-11-19T22:12:09Z</dcterms:modified>
  <dc:identifier>DAG32vsWgcw</dc:identifier>
</cp:coreProperties>
</file>